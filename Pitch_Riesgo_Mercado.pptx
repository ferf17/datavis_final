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1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84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de 10 min. Abrir con la tesis: la diversificación falla en crisis. PoC con datos reales 2018-2026.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climax. El hallazgo real y honesto: el bloque de riesgo converge (SPY-QQQ-HYG suben), pero TLT se desacopla (refugio genuino). La herramienta lo hace tangible.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MVP = correlacion. 3 semanas realistas. Riesgos ya mitigados en la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336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0241280" y="3474720"/>
            <a:ext cx="4754880" cy="4754880"/>
          </a:xfrm>
          <a:prstGeom prst="ellipse">
            <a:avLst/>
          </a:prstGeom>
          <a:solidFill>
            <a:srgbClr val="2330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PROYECTO · VISUALIZACIÓN DE DATOS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del riesgo de mercado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de los activos en calma vs crisis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8686800" cy="868680"/>
          </a:xfrm>
          <a:prstGeom prst="roundRect">
            <a:avLst>
              <a:gd name="adj" fmla="val 6316"/>
            </a:avLst>
          </a:prstGeom>
          <a:solidFill>
            <a:srgbClr val="27336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Tesis: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diversificación falla justo cuando más se necesita — en crisis las correlaciones del bloque de riesgo convergen hacia 1, la volatilidad se dispara y los drawdowns se profundizan.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120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concepto (PoC)  ·  5 ETFs + ^VIX  ·  2018–2026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propuesta: dashboard interactivo en Streamlit + Plotly  ·  Datos: Yahoo Finance (yfinance)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Escobar  ·  Maestría en Ciencia de Datos  ·  Julio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diversificación es una promesa que se rompe en crisis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inversionistas asumen que repartir el capital entre clases de activo protege la cartera. Pero esa protección depende de que los activos no caigan a la vez — y precisamente en las crisis tienden a hacerlo.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868680" y="2880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Correlaciones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de riesgo (acciones, tech, crédito HY) se mueve casi al unísono cuando cae.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26060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4572000" y="2880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Volatilidad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dispara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72000" y="45262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amplitud de las variaciones diarias se multiplica por 2–4× respecto a la calma.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55280" y="26060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275320" y="2880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827532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7532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Drawdowns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75320" y="4023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profundizan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75320" y="45262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caídas desde máximos se hacen más grandes y tardan más en recuperarse.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r>
              <a:rPr lang="en-US" sz="1300" i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esto tangible y comparable ayuda a dimensionar el riesgo real de cola antes —no durante— la próxima crisis.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riesgo de mercado · Calma vs Crisis · PoC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Y CONTEXTO DE USO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quién es y cómo se usará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Inversor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minorista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media en finanzas. Quiere entender por qué su cartera 'diversificada' cae en bloque.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26280" y="1965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Estudiantes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26280" y="25603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finanzas y ciencia de datos que exploran riesgo, correlación y regímenes de mercado.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8229600" y="1965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Analista de riesgo junior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0" y="25603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un lienzo rápido para comparar comportamiento por régimen y comunicarlo.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de uso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educativa y analítica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de estudio, docencia y análisis exploratorio. Foco en comprender relaciones entre clases de activo.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892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herramienta de trading en vivo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 señales ni recomendaciones de inversión. Es un instrumento de comprensión del riesgo.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riesgo de mercado · Calma vs Crisis · PoC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FUENTE Y 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ETFs multi-clase: del PoC al conjunto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(este pitch) — 5 ETFs + ^VIX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</a:t>
            </a:r>
            <a:r>
              <a:rPr lang="en-US" sz="13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acciones EE.UU.   </a:t>
            </a:r>
            <a:r>
              <a:rPr lang="en-US" sz="13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</a:t>
            </a:r>
            <a:r>
              <a:rPr lang="en-US" sz="13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tecnología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TLT</a:t>
            </a:r>
            <a:r>
              <a:rPr lang="en-US" sz="13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bonos largos   </a:t>
            </a:r>
            <a:r>
              <a:rPr lang="en-US" sz="13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</a:t>
            </a:r>
            <a:r>
              <a:rPr lang="en-US" sz="13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oro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</a:t>
            </a:r>
            <a:r>
              <a:rPr lang="en-US" sz="13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crédito high yield   </a:t>
            </a:r>
            <a:r>
              <a:rPr lang="en-US" sz="13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^VIX</a:t>
            </a:r>
            <a:r>
              <a:rPr lang="en-US" sz="13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termómetro de régimen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Ventana: </a:t>
            </a: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→ 2026 (cubre COVID-2020 y alza de tasas 2022).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Régimen: </a:t>
            </a: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objetivamente — VIX &gt; 30 = crisis, si no = calma.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2880360"/>
          </a:xfrm>
          <a:prstGeom prst="roundRect">
            <a:avLst>
              <a:gd name="adj" fmla="val 2540"/>
            </a:avLst>
          </a:prstGeom>
          <a:solidFill>
            <a:srgbClr val="EEF3FA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final — ~11 activos multi-clase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· QQQ · TLT · GLD · HYG · VNQ (real estate) · EEM (emergentes) · DBC (commodities) · UUP (dólar) · BTC-USD (cripto) · ^VIX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ETFs multi-clase: </a:t>
            </a: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evitan el sesgo de supervivencia de acciones individuales y capturan las relaciones ENTRE clases de activo, que es justo lo que colapsa en crisis.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EEEC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777240" y="4846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y limitaciones documentadas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51937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es fuente no oficial (posibles rate limits y huecos) · se usa Adj Close · alineación de calendarios y días no bursátiles · BTC con historia más corta en el conjunto ampliado.  Limpieza: forward-fill acotado, dropna y caché a parquet.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riesgo de mercado · Calma vs Crisis · PoC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· ABSTRACCIÓN DE DATOS (MUNZNER)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crudos y derivados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017747"/>
              </p:ext>
            </p:extLst>
          </p:nvPr>
        </p:nvGraphicFramePr>
        <p:xfrm>
          <a:off x="548640" y="1691640"/>
          <a:ext cx="11064240" cy="427939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Munzner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 / definición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bursátil diaria (serie de tiempo)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Close / Volume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ajustado y volumen por ticker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 / clase de activo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SPY, QQQ… y su clase (acción, bono, oro…)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log diario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Cuant. (derivado)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ln(Pt / Pt-1) sobre Adj Close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Volatilidad realizada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Cuant. (derivado)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Desv. estándar rolling 21d, anualizada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Drawdown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Cuant. (derivado)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Caída % desde el máximo previo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Correlación por régimen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Cuant. (derivado)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de correlación de retornos por régimen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i="1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Categórico/ordinal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6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 / Crisis según umbral VIX &gt; 30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atributos derivados son el corazón analítico: transforman precios crudos en medidas comparables de riesgo entre regímenes.</a:t>
            </a:r>
            <a:endParaRPr lang="en-US" sz="1200" dirty="0"/>
          </a:p>
        </p:txBody>
      </p:sp>
      <p:sp>
        <p:nvSpPr>
          <p:cNvPr id="4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riesgo de mercado · Calma vs Crisis · PoC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· ABSTRACCIÓN DE TAREAS (MUNZNER)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preguntas analíticas → tareas de usuario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81051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cambia la volatilidad por clase entre calma y crisis?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12480" y="181051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· target: distribución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777240" y="2816352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77724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706624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¿Convergen las correlaciones en crisis? (quiebre de la diversificación)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12480" y="270662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· target: correlación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777240" y="3712464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777240" y="3712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602736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profundos y largos son los drawdowns por régimen?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412480" y="360273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· target: extremos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777240" y="4608576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777240" y="4608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98848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ocurrieron los episodios de estrés?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12480" y="449884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en el tiempo · detectar anomalías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3218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777240" y="5504688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777240" y="5504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949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activos fueron refugio real y cuáles falsos diversificadores?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412480" y="5394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/ comparar · outliers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riesgo de mercado · Calma vs Crisis · PoC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· DISEÑO DEL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Wireframe: vistas coordinadas en Streamlit</a:t>
            </a:r>
            <a:endParaRPr lang="en-US" sz="3000" dirty="0"/>
          </a:p>
        </p:txBody>
      </p:sp>
      <p:pic>
        <p:nvPicPr>
          <p:cNvPr id="4" name="Image 0" descr="assets/wirefra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00200"/>
            <a:ext cx="822960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15400" y="1691640"/>
            <a:ext cx="2788920" cy="4754880"/>
          </a:xfrm>
          <a:prstGeom prst="roundRect">
            <a:avLst>
              <a:gd name="adj" fmla="val 2623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Text 3"/>
          <p:cNvSpPr/>
          <p:nvPr/>
        </p:nvSpPr>
        <p:spPr>
          <a:xfrm>
            <a:off x="914400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0" y="22402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de controles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secciones enlazadas: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Overview temporal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Volatilidad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Correlaciones </a:t>
            </a: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(clímax)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Drawdowns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Distribución / colas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0" y="52120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</a:t>
            </a:r>
            <a:r>
              <a:rPr lang="en-US" sz="1200" i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Correlación. La red de contagio es un stretch opcional.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riesgo de mercado · Calma vs Crisis · PoC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· IDIOMS JUSTIFICADOS + EVIDENCIA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Correlación por régimen — el clímax de la herramienta</a:t>
            </a:r>
            <a:endParaRPr lang="en-US" sz="3000" dirty="0"/>
          </a:p>
        </p:txBody>
      </p:sp>
      <p:pic>
        <p:nvPicPr>
          <p:cNvPr id="4" name="Image 0" descr="assets/figR_correlacion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645920"/>
            <a:ext cx="74066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6459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Text 3"/>
          <p:cNvSpPr/>
          <p:nvPr/>
        </p:nvSpPr>
        <p:spPr>
          <a:xfrm>
            <a:off x="832104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Marks &amp; channels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21040" y="21945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Mark: </a:t>
            </a: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(área) en matriz.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</a:t>
            </a: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divergente RdBu, </a:t>
            </a: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neutro</a:t>
            </a: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seguro para daltónicos.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Two-régimen side-by-side </a:t>
            </a: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comparación directa calma/crisis.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2104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muestra el dato real (PoC):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21040" y="44805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SPY–QQQ 0.93→0.97 · SPY–HYG 0.74→0.82: </a:t>
            </a: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de riesgo converge.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SPY–TLT −0.05→−0.32: </a:t>
            </a: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bonos largos son el refugio real (se desacoplan más).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56235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idioms: posición para cuantitativos · sombreado de fondo para contexto de crisis · small multiples para comparar regímenes.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riesgo de mercado · Calma vs Crisis · PoC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· EVIDENCIA REAL DE LA POC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Volatilidad y drawdown confirman la tesis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5" name="Image 0" descr="assets/figR_volatilida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828800"/>
            <a:ext cx="534924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7548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anualizada calma→crisis: SPY 15→48% (×3.3), HYG 6→23% (×3.8). Hasta el crédito 'defensivo' se vuelve volátil.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63640" y="164592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8" name="Image 1" descr="assets/figR_drawdow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828800"/>
            <a:ext cx="516636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46520" y="47548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SPY: fondo COVID −33.7% (mar-2020). Otros peores drawdowns: QQQ −35% (2022), TLT −48% (alza de tasas 2023).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 crisis (VIX&gt;30) = 7.2% de los 2.141 días · VIX medio 18.3 (calma) vs 38.0 (crisis) · pico 82.7 el 16-mar-2020.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riesgo de mercado · Calma vs Crisis · PoC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PREVISTAS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Vistas coordinadas (coordinated multiple views)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 global por régimen / episodio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control único (Calma·Crisis·Ambos) reconfigura las 5 vistas a la vez.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activos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30428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de tickers para enfocar comparaciones y reducir ruido.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822960" y="33558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Brush de rango temporal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78561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sobre la línea de tiempo acota todas las métricas al período.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321868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446520" y="33558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Tooltips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378561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bajo demanda: valor exacto, fecha y activo al pasar el cursor.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822960" y="483717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Resaltado enlazado (linked highlighting)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526694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un par o activo lo resalta simultáneamente en todas las vistas.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470001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6446520" y="48371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de correlación seleccionable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526694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rolling de un par elegido para ver cómo evoluciona hacia la crisis.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riesgo de mercado · Calma vs Crisis · PoC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2 semanas + riesgos y mitigaciones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EEF3FA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Ingesta + limpieza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→ parquet, features (retornos, vol, drawdown), definición de umbrales y EDA.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73736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EEF3FA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52628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5262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1965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Vistas core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69748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volatilidad y matriz de correlación en Streamlit/Plotly + iteración de diseño.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EEF3FA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822960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82296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0" y="1965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+ deploy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2697480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Drawdowns, distribución, interacciones/enlace, accesibilidad, deploy en Streamlit Cloud, pruebas y doc.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BEEEC"/>
          </a:solidFill>
          <a:ln w="12700">
            <a:solidFill>
              <a:srgbClr val="E3E9F2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mitigaciones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de yfinance → </a:t>
            </a: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Cachear a parquet; una sola descarga.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34840" y="452628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Huecos / calendarios → </a:t>
            </a: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Alinear a días hábiles, forward-fill acotado.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452628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'crisis' → </a:t>
            </a: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objetivo VIX&gt;30 + episodios documentados.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30352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Sobre-alcance → </a:t>
            </a: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= correlación; red/grafo opcional.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34840" y="530352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→ </a:t>
            </a: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Precomputar features antes de servir.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0" y="530352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errónea → </a:t>
            </a:r>
            <a:r>
              <a:rPr lang="en-US" sz="1150" dirty="0">
                <a:solidFill>
                  <a:srgbClr val="16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Copys educativos; no es señal de trading.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riesgo de mercado · Calma vs Crisis · PoC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27336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601200" y="-2194560"/>
            <a:ext cx="5486400" cy="5486400"/>
          </a:xfrm>
          <a:prstGeom prst="ellipse">
            <a:avLst/>
          </a:prstGeom>
          <a:solidFill>
            <a:srgbClr val="23305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Hacer visible cuándo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falla la diversificación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que convierte precios crudos en una comparación clara y accesible del riesgo entre calma y crisis — con datos reales, régimen objetivo y evidencia ya validada en la PoC.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2200" b="1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Escobar  ·  Visualización de Datos  ·  Modelo anidado de Munzner (Domain · What · Why · How)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1617</Words>
  <Application>Microsoft Office PowerPoint</Application>
  <PresentationFormat>Panorámica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Anatomía del riesgo de mercado</dc:title>
  <dc:subject>PptxGenJS Presentation</dc:subject>
  <dc:creator>Fer Escobar</dc:creator>
  <cp:lastModifiedBy>Fernando Sebastián Escobar Velasteguí</cp:lastModifiedBy>
  <cp:revision>2</cp:revision>
  <dcterms:created xsi:type="dcterms:W3CDTF">2026-07-10T04:55:40Z</dcterms:created>
  <dcterms:modified xsi:type="dcterms:W3CDTF">2026-07-11T03:36:34Z</dcterms:modified>
</cp:coreProperties>
</file>